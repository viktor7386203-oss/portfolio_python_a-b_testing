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A/B Тест: Расположение рекламного блока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Отчет по эксперименту</a:t>
            </a:r>
          </a:p>
          <a:p>
            <a:r>
              <a:t>07.11.2025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и гипотеза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6600"/>
                </a:solidFill>
              </a:defRPr>
            </a:pPr>
            <a:r>
              <a:t>ЦЕЛЬ ЭКСПЕРИМЕНТА:</a:t>
            </a:r>
          </a:p>
          <a:p>
            <a:r>
              <a:t>Проверить влияние расположения рекламного блока на взаимодействие пользователей</a:t>
            </a:r>
          </a:p>
          <a:p>
            <a:br/>
            <a:pPr>
              <a:defRPr b="1">
                <a:solidFill>
                  <a:srgbClr val="006600"/>
                </a:solidFill>
              </a:defRPr>
            </a:pPr>
            <a:r>
              <a:t>ГИПОТЕЗА:</a:t>
            </a:r>
          </a:p>
          <a:p>
            <a:r>
              <a:t>Размещение рекламного блока над основной секцией увеличивает кликабельность и конверсию</a:t>
            </a:r>
          </a:p>
          <a:p>
            <a:br/>
            <a:pPr>
              <a:defRPr b="1">
                <a:solidFill>
                  <a:srgbClr val="006600"/>
                </a:solidFill>
              </a:defRPr>
            </a:pPr>
            <a:r>
              <a:t>КЛЮЧЕВАЯ МЕТРИКА:</a:t>
            </a:r>
          </a:p>
          <a:p>
            <a:r>
              <a:t>CTR (Click-Through Rate)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Дизайн эксперимента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Период: 7 дней</a:t>
            </a:r>
          </a:p>
          <a:p>
            <a:pPr/>
            <a:r>
              <a:t>Общий размер выборки: 401,260 пользователей</a:t>
            </a:r>
          </a:p>
          <a:p>
            <a:pPr/>
            <a:r>
              <a:t>Контрольная группа: 200,786 пользователей</a:t>
            </a:r>
          </a:p>
          <a:p>
            <a:pPr/>
            <a:r>
              <a:t>Тестовая группа: 200,474 пользователей</a:t>
            </a:r>
          </a:p>
          <a:p>
            <a:pPr/>
            <a:r>
              <a:t>Уровень значимости (α): 5%</a:t>
            </a:r>
          </a:p>
          <a:p>
            <a:pPr/>
            <a:r>
              <a:t>MDE (Minimum Detectable Effect): 5%</a:t>
            </a:r>
          </a:p>
          <a:p>
            <a:pPr/>
            <a:r>
              <a:t>Статистическая мощность: 80%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8000"/>
                </a:solidFill>
              </a:defRPr>
            </a:pPr>
            <a:r>
              <a:t>✓ СТАТИСТИЧЕСКИ ЗНАЧИМОЕ УЛУЧШЕНИЕ</a:t>
            </a:r>
          </a:p>
          <a:p>
            <a:br/>
            <a:pPr>
              <a:defRPr b="1"/>
            </a:pPr>
            <a:r>
              <a:t>CTR Результаты:</a:t>
            </a:r>
          </a:p>
          <a:p>
            <a:r>
              <a:t>Контроль: 9.47%</a:t>
            </a:r>
          </a:p>
          <a:p>
            <a:r>
              <a:t>Тест: 9.67%</a:t>
            </a:r>
          </a:p>
          <a:p>
            <a:r>
              <a:t>Изменение: +2.11%</a:t>
            </a:r>
          </a:p>
          <a:p>
            <a:r>
              <a:t>p-value: 0.0315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585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Сравнение ключевой метрики (CTR) между группами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Вспомогательные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Конверсия просмотр→добавление: -1.6%</a:t>
            </a:r>
          </a:p>
          <a:p>
            <a:r>
              <a:t>Конверсия просмотр→заказ: -0.8%</a:t>
            </a:r>
          </a:p>
          <a:p>
            <a:r>
              <a:t>ARPU по добавлениям: +2.8%</a:t>
            </a:r>
          </a:p>
          <a:p>
            <a:r>
              <a:t>ARPU по заказам: +6.3%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Статистическая значимость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РЕЗУЛЬТАТЫ СТАТИСТИЧЕСКИХ ТЕСТОВ:</a:t>
            </a:r>
          </a:p>
          <a:p>
            <a:r>
              <a:t>✓ CTR: p-value = 0.0315</a:t>
            </a:r>
          </a:p>
          <a:p>
            <a:r>
              <a:t>○ View_to_Add_Rate: p-value = 0.3132</a:t>
            </a:r>
          </a:p>
          <a:p>
            <a:r>
              <a:t>○ View_to_Order_Rate: p-value = 0.6249</a:t>
            </a:r>
          </a:p>
          <a:p>
            <a:r>
              <a:t>○ ARPU_Adds: p-value = 0.3087</a:t>
            </a:r>
          </a:p>
          <a:p>
            <a:r>
              <a:t>○ ARPU_Orders: p-value = 0.0541</a:t>
            </a:r>
          </a:p>
          <a:p>
            <a:br/>
            <a:pPr>
              <a:defRPr b="1"/>
            </a:pPr>
            <a:r>
              <a:t>ИНТЕРПРЕТАЦИЯ:</a:t>
            </a:r>
          </a:p>
          <a:p>
            <a:r>
              <a:t>Изменение статистически значимо (p &lt; 0.05)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✓ ВНЕДРИТЬ изменение для всех пользователей</a:t>
            </a:r>
          </a:p>
          <a:p>
            <a:pPr/>
            <a:r>
              <a:t>✓ Продолжить мониторинг метрик 2 недели</a:t>
            </a:r>
          </a:p>
          <a:p>
            <a:pPr/>
            <a:r>
              <a:t>✓ Оценить долгосрочный бизнес-эффект</a:t>
            </a:r>
          </a:p>
          <a:p>
            <a:pPr/>
            <a:r>
              <a:t>✓ Документировать успешную практику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Следующие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Подготовить финальный отчет для стейкхолдеров</a:t>
            </a:r>
          </a:p>
          <a:p>
            <a:pPr/>
            <a:r>
              <a:t>Провести встречу по результатам эксперимента</a:t>
            </a:r>
          </a:p>
          <a:p>
            <a:pPr/>
            <a:r>
              <a:t>Определить план внедрения/отказа от изменения</a:t>
            </a:r>
          </a:p>
          <a:p>
            <a:pPr/>
            <a:r>
              <a:t>Запланировать следующий эксперимент</a:t>
            </a:r>
          </a:p>
          <a:p>
            <a:pPr/>
            <a:r>
              <a:t>Обновить документацию по продукту</a:t>
            </a:r>
          </a:p>
          <a:p>
            <a:br/>
            <a:pPr>
              <a:defRPr b="1"/>
            </a:pPr>
            <a:r>
              <a:t>КОНТАКТЫ:</a:t>
            </a:r>
          </a:p>
          <a:p>
            <a:r>
              <a:t>Команда анализа данных</a:t>
            </a:r>
            <a:br/>
            <a:r>
              <a:t>email: analytics@company.com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